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965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6215 · MIDTERM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337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summer sublets for students moving between Seattle and the Bay Area.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4526280"/>
            <a:ext cx="10874959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919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30368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230368" y="4919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30,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 an internship?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room is the hard part.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a classmate look for a summer sublet in another city. They spent hours in Facebook groups and on RedNote, scrolling past the wrong dates and guessing which rooms were real.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3246120"/>
            <a:ext cx="3411626" cy="0"/>
          </a:xfrm>
          <a:prstGeom prst="line">
            <a:avLst/>
          </a:prstGeom>
          <a:noFill/>
          <a:ln w="19050">
            <a:solidFill>
              <a:srgbClr val="1618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36499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611880"/>
            <a:ext cx="3411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and fake listings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90034" y="3246120"/>
            <a:ext cx="3411626" cy="0"/>
          </a:xfrm>
          <a:prstGeom prst="line">
            <a:avLst/>
          </a:prstGeom>
          <a:noFill/>
          <a:ln w="19050">
            <a:solidFill>
              <a:srgbClr val="1618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0034" y="336499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90034" y="3611880"/>
            <a:ext cx="3411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the room before paying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21701" y="3246120"/>
            <a:ext cx="3411626" cy="0"/>
          </a:xfrm>
          <a:prstGeom prst="line">
            <a:avLst/>
          </a:prstGeom>
          <a:noFill/>
          <a:ln w="19050">
            <a:solidFill>
              <a:srgbClr val="1618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1701" y="336499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21701" y="3611880"/>
            <a:ext cx="3411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rarely line up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8368" y="5440680"/>
            <a:ext cx="10874959" cy="64008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544068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SummerNest: </a:t>
            </a:r>
            <a:pPr indent="0" marL="0">
              <a:buNone/>
            </a:pPr>
            <a:r>
              <a:rPr lang="en-US" sz="18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verified, every search filtered by your dates.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customers,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same person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874959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864608"/>
                <a:gridCol w="48646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 moving to a new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 · need a room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leaving for the summer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· have an empty room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room near my internship, for exactly my 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my rent while I'm away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Scams and fake listings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see the room before paying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 rent on an empty room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knowing who moves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locked in before day 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SzPct val="100000"/>
                        <a:buChar char="•"/>
                      </a:pPr>
                      <a:r>
                        <a:rPr lang="en-US" sz="14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done in days, not weeks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rooms that match your dates, from anywhere.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your room with a verified intern whose dates match.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937760"/>
            <a:ext cx="10874959" cy="0"/>
          </a:xfrm>
          <a:prstGeom prst="line">
            <a:avLst/>
          </a:prstGeom>
          <a:noFill/>
          <a:ln w="19050">
            <a:solidFill>
              <a:srgbClr val="2D6E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5093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Seattle </a:t>
            </a:r>
            <a:pPr indent="0" marL="0">
              <a:buNone/>
            </a:pPr>
            <a:r>
              <a:rPr lang="en-US" sz="16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6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 in SF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858768" y="5093208"/>
            <a:ext cx="7674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room to fill in Seattle and needs one in SF. One sign-up adds both supply and demand, which helps with the cold start.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boards have no trust.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options cost too much.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63040"/>
          <a:ext cx="1087495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286000"/>
                <a:gridCol w="987552"/>
                <a:gridCol w="987552"/>
                <a:gridCol w="987552"/>
                <a:gridCol w="987552"/>
                <a:gridCol w="987552"/>
                <a:gridCol w="987552"/>
                <a:gridCol w="1243584"/>
              </a:tblGrid>
              <a:tr h="4572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  ~ partly   ✕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MATCHING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YOUR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2 TO 4 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TO ANY STUDENT INTERN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&amp; 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groups, Craigslist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STAYS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 (monthly)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Furnished Finder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Extended-stay hotels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Company-provided housing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summer housing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 and alumni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BD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SummerNest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5029200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table doesn't show: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boards already have the users, and Airbnb has years of trust and reviews. Kopa, a verified medium-term housing marketplace, has shut down. SummerNest is ~ on "any student intern" because launch covers 6 schools.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571500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like Airbnb, </a:t>
            </a:r>
            <a:pPr indent="0" marL="0">
              <a:buNone/>
            </a:pPr>
            <a:r>
              <a:rPr lang="en-US" sz="17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student-to-student rent</a:t>
            </a:r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students moving between Seattle and the Bay Area.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Kopa (kopa.co).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CASE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free.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$29 a year to see and chat.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91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</a:t>
            </a:r>
            <a:endParaRPr lang="en-US" sz="1900" dirty="0"/>
          </a:p>
          <a:p>
            <a:pPr indent="0" marL="0">
              <a:buNone/>
            </a:pPr>
            <a:r>
              <a:rPr lang="en-US" sz="11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room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029968" y="1691640"/>
            <a:ext cx="2954426" cy="914400"/>
          </a:xfrm>
          <a:prstGeom prst="rect">
            <a:avLst/>
          </a:prstGeom>
          <a:solidFill>
            <a:srgbClr val="FAFAF8"/>
          </a:solidFill>
          <a:ln w="9525">
            <a:solidFill>
              <a:srgbClr val="D3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801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city and dates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4434" y="1691640"/>
            <a:ext cx="2954426" cy="914400"/>
          </a:xfrm>
          <a:prstGeom prst="rect">
            <a:avLst/>
          </a:prstGeom>
          <a:solidFill>
            <a:srgbClr val="FAFAF8"/>
          </a:solidFill>
          <a:ln w="9525">
            <a:solidFill>
              <a:srgbClr val="D3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1594" y="1801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summary, cover photo, Room verified 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30114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78901" y="1691640"/>
            <a:ext cx="2954426" cy="91440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16061" y="1801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/ year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all photos, details and chat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04581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834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900" dirty="0"/>
          </a:p>
          <a:p>
            <a:pPr indent="0" marL="0">
              <a:buNone/>
            </a:pPr>
            <a:r>
              <a:rPr lang="en-US" sz="11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room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029968" y="2834640"/>
            <a:ext cx="2954426" cy="914400"/>
          </a:xfrm>
          <a:prstGeom prst="rect">
            <a:avLst/>
          </a:prstGeom>
          <a:solidFill>
            <a:srgbClr val="FAFAF8"/>
          </a:solidFill>
          <a:ln w="9525">
            <a:solidFill>
              <a:srgbClr val="D3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67128" y="2944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room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4434" y="2834640"/>
            <a:ext cx="2954426" cy="914400"/>
          </a:xfrm>
          <a:prstGeom prst="rect">
            <a:avLst/>
          </a:prstGeom>
          <a:solidFill>
            <a:srgbClr val="FAFAF8"/>
          </a:solidFill>
          <a:ln w="9525">
            <a:solidFill>
              <a:srgbClr val="D3D6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1594" y="2944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ID photo in the room + 5 room photos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30114" y="3154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78901" y="2834640"/>
            <a:ext cx="2954426" cy="91440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16061" y="2944368"/>
            <a:ext cx="2680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/ year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3 messages.” Join to reply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04581" y="3154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023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$29 covers both roles. </a:t>
            </a:r>
            <a:pPr indent="0" marL="0">
              <a:buNone/>
            </a:pPr>
            <a:r>
              <a:rPr lang="en-US" sz="15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free to create; people pay once they want something.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" y="5074920"/>
            <a:ext cx="10874959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212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PAY ELSEWHERE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RedNote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2944368" y="5486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/ yr  </a:t>
            </a:r>
            <a:pPr indent="0" marL="0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5321808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yr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Furnished Finder, per listing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8705088" y="5486400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~$700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host fee, 3 months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Furnished Finder 2026 pricing; Airbnb host-only fee (~15.5%) on a $1,500/month room.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CASE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P&amp;L: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members, break-even at 14%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2027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schools in Seattle and the SF Bay Area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post, $29 a year to unlock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unpaid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FUNNEL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084832"/>
          <a:ext cx="4663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at 6 launch schools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 53.8k · SF Bay Area 94.3k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 summer internship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30% · 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NACE: 67% of seniors intern during college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Relocate to another city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40% · 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up with school email, free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15% · 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a $29 membership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30% · 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7044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0448" y="2084832"/>
          <a:ext cx="566287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0908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× $29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 + $0.30 per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($913)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per member ·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$21,487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ambassadors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$500 ·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and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~$175 / month ·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review of terms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time ·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profit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margin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" y="5257800"/>
            <a:ext cx="10874959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" y="5376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members</a:t>
            </a:r>
            <a:endParaRPr lang="en-US" sz="2100" dirty="0"/>
          </a:p>
          <a:p>
            <a:pPr indent="0" marL="0">
              <a:buNone/>
            </a:pPr>
            <a:r>
              <a:rPr lang="en-US" sz="11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Break-even, or 14.1% of sign-ups paying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3493008" y="5257800"/>
            <a:ext cx="0" cy="86868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75888" y="5376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$7.50</a:t>
            </a:r>
            <a:endParaRPr lang="en-US" sz="2100" dirty="0"/>
          </a:p>
          <a:p>
            <a:pPr indent="0" marL="0">
              <a:buNone/>
            </a:pPr>
            <a:r>
              <a:rPr lang="en-US" sz="11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marketing ÷ paid members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6510528" y="5257800"/>
            <a:ext cx="0" cy="86868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93408" y="5376672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30 (37%)</a:t>
            </a:r>
            <a:endParaRPr lang="en-US" sz="2100" dirty="0"/>
          </a:p>
          <a:p>
            <a:pPr indent="0" marL="0">
              <a:buNone/>
            </a:pPr>
            <a:r>
              <a:rPr lang="en-US" sz="11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they would pay $29 in our survey. We plan on 30%, below what people told us.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2023 to 2025 enrollment reports (UW, Northeastern, SF State, USF, UC Berkeley, Stanford); NACE 2024 Student Survey; Stripe pricing; SummerNest team survey, Oct. 2026. EST. = team estimate.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CASE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could kill this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P&amp;L × how little evidence we have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11626" cy="0"/>
          </a:xfrm>
          <a:prstGeom prst="line">
            <a:avLst/>
          </a:prstGeom>
          <a:noFill/>
          <a:ln w="19050">
            <a:solidFill>
              <a:srgbClr val="2D6E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0195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WILLINGNESS TO PAY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57984"/>
            <a:ext cx="3411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pay $29 when Facebook and RedNote are free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2880360"/>
            <a:ext cx="3411626" cy="36576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880360"/>
            <a:ext cx="3192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</a:t>
            </a:r>
            <a:pPr indent="0" marL="0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sign-ups pay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383280"/>
          <a:ext cx="3411626" cy="914400"/>
        </p:xfrm>
        <a:graphic>
          <a:graphicData uri="http://schemas.openxmlformats.org/drawingml/2006/table">
            <a:tbl>
              <a:tblPr/>
              <a:tblGrid>
                <a:gridCol w="2314346"/>
                <a:gridCol w="10972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+$11,387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 pay, break-even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44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−$6,528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58368" y="4480560"/>
            <a:ext cx="34116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driver of profit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stated evidence so far: 11 of 30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5596128"/>
            <a:ext cx="3411626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566928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TEST  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Fake-door “Unlock for $29” button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90034" y="1810512"/>
            <a:ext cx="3411626" cy="0"/>
          </a:xfrm>
          <a:prstGeom prst="line">
            <a:avLst/>
          </a:prstGeom>
          <a:noFill/>
          <a:ln w="19050">
            <a:solidFill>
              <a:srgbClr val="16181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90034" y="190195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LIQUIDITY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390034" y="2157984"/>
            <a:ext cx="3411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has enough verified rooms for the right dates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390034" y="2880360"/>
            <a:ext cx="3411626" cy="36576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99762" y="2880360"/>
            <a:ext cx="3192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</a:t>
            </a:r>
            <a:pPr indent="0" marL="0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members both list and rent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390034" y="3383280"/>
            <a:ext cx="341162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with no match gets nothing for $29 and won’t recommend us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should grow supply with demand. Untested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pair keeps supply concentrated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90034" y="5596128"/>
            <a:ext cx="3411626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90034" y="566928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TEST  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verified rooms per city before renters; date-match rate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21701" y="1810512"/>
            <a:ext cx="3411626" cy="0"/>
          </a:xfrm>
          <a:prstGeom prst="line">
            <a:avLst/>
          </a:prstGeom>
          <a:noFill/>
          <a:ln w="19050">
            <a:solidFill>
              <a:srgbClr val="16181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21701" y="1901952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CHEAP REACH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121701" y="2157984"/>
            <a:ext cx="3411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reach relocating interns in a 4-month window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8121701" y="2880360"/>
            <a:ext cx="3411626" cy="36576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31429" y="2880360"/>
            <a:ext cx="3192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</a:t>
            </a:r>
            <a:pPr indent="0" marL="0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 up, </a:t>
            </a:r>
            <a:pPr indent="0" marL="0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$7.50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CAC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121701" y="3383280"/>
            <a:ext cx="341162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us once or twice in college, so lifetime value is about $29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season a year: a failed channel costs a full year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21701" y="5596128"/>
            <a:ext cx="3411626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21701" y="5669280"/>
            <a:ext cx="3411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TEST  </a:t>
            </a:r>
            <a:pPr indent="0" marL="0">
              <a:buNone/>
            </a:pPr>
            <a:r>
              <a:rPr lang="en-US" sz="12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campus ambassadors with unique sign-up links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Kopa (kopa.co); Ries, Eric. The Lean Startup, 2011, ch. 5, on leap-of-faith assumptions.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MVP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MVP: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must-haves, each tied to a risk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 </a:t>
            </a:r>
            <a:pPr indent="0" marL="0">
              <a:buNone/>
            </a:pPr>
            <a:r>
              <a:rPr lang="en-US" sz="12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importance + low or medium build cost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74959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606040"/>
                <a:gridCol w="4343400"/>
                <a:gridCol w="2871216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F75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6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verification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photo in the room + 5 room photos, reviewed by hand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scams, the #1 pain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listing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City, dates, rent, photos; “also looking in ___”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supply, measures overlap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preview: cover photo + Verified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internship 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 / year membership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 all photos, details, chat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only revenue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chat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only; hosts join to reply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users pay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07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.edu sign-up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schools in Seattle and the Bay 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6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students for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F52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5349240"/>
            <a:ext cx="5277460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5440680"/>
            <a:ext cx="5277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OF OZ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669280"/>
            <a:ext cx="527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a working web app. Behind it, we review every room by hand.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5868" y="5349240"/>
            <a:ext cx="5277460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55868" y="5440680"/>
            <a:ext cx="5277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DOOR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55868" y="5669280"/>
            <a:ext cx="527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“Unlock for $29” records the click. No real payments in this class project.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Ries, Eric. The Lean Startup, 2011, ch. 6, on MVPs.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pPr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MVP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961327" y="384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8638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room </a:t>
            </a:r>
            <a:pPr indent="0" marL="0">
              <a:buNone/>
            </a:pPr>
            <a:r>
              <a:rPr lang="en-US" sz="29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5303520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373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 see proof for free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cover photo and the verified badge answer “is this room real?”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5303520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697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pay when renters are waiting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and verification stay free, so supply isn’t blocked.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566160"/>
            <a:ext cx="5303520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57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fallback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under 10% of hosts with messages join, replies become free.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5257800"/>
            <a:ext cx="5303520" cy="77724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5257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4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January 2027 and test whether 15% of verified users click “Unlock.”</a:t>
            </a:r>
            <a:endParaRPr lang="en-US" sz="1400" dirty="0"/>
          </a:p>
        </p:txBody>
      </p:sp>
      <p:pic>
        <p:nvPicPr>
          <p:cNvPr id="13" name="Image 0" descr="Renter view: search results with free preview and Unlock for $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5121" y="777240"/>
            <a:ext cx="2481943" cy="5029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295121" y="5897880"/>
            <a:ext cx="2481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</a:t>
            </a:r>
            <a:endParaRPr lang="en-US" sz="1300" dirty="0"/>
          </a:p>
        </p:txBody>
      </p:sp>
      <p:pic>
        <p:nvPicPr>
          <p:cNvPr id="15" name="Image 1" descr="Host view: room verified, 3 messages, Join to reply for $29 a y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384" y="777240"/>
            <a:ext cx="2481943" cy="5029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051384" y="5897880"/>
            <a:ext cx="2481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965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SUMMERNEST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4526280"/>
            <a:ext cx="10874959" cy="0"/>
          </a:xfrm>
          <a:prstGeom prst="line">
            <a:avLst/>
          </a:prstGeom>
          <a:noFill/>
          <a:ln w="9525">
            <a:solidFill>
              <a:srgbClr val="D3D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919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Wang &amp; Aurora Ouyang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30368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230368" y="4919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6215 · Fall 2026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641908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“Create the class presentation slides for SummerNest, a verified sublet marketplace for interns” prompt. Claude, Opus 5.5 version, Anthropic, 27 Oct. 2026, claude.ai.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SummerNest Class Presentation</dc:title>
  <dc:subject>PptxGenJS Presentation</dc:subject>
  <dc:creator>Xiaoyu Wang and Aurora Ouyang</dc:creator>
  <cp:lastModifiedBy>Xiaoyu Wang and Aurora Ouyang</cp:lastModifiedBy>
  <cp:revision>1</cp:revision>
  <dcterms:created xsi:type="dcterms:W3CDTF">2026-10-29T16:34:07Z</dcterms:created>
  <dcterms:modified xsi:type="dcterms:W3CDTF">2026-10-29T16:34:07Z</dcterms:modified>
</cp:coreProperties>
</file>